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2" r:id="rId33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Policy Layer for Container Vulnerability Gating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6FEB"/>
                </a:solidFill>
              </a:defRPr>
            </a:pPr>
            <a:r>
              <a:t>Design, Implementation, and 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MSc thesis component   |  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Where We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Chapter 5 finding: scanners disagree at every level.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total counts diverge up to 6.9×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severity agreement on shared CVEs: 7.6 – 96.3%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fix-rate divergence: Trivy 77% vs Grype 34% on node:14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CRITICAL counts most portable (Δ ≤ 3 on 7/9 images)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B91C1C"/>
                </a:solidFill>
              </a:defRPr>
            </a:pPr>
            <a:r>
              <a:t>Conclusion: raw scanner output is not gate-ready.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6FEB"/>
                </a:solidFill>
              </a:defRPr>
            </a:pPr>
            <a:r>
              <a:t>Question this chapter answers: what is gate-ready?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Architectural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Two options considered: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1. Fork HarbourGuard (existing orchestration platform)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2. Standalone OPA/Rego layer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B91C1C"/>
                </a:solidFill>
              </a:defRPr>
            </a:pPr>
            <a:r>
              <a:t>HarbourGuard rejected on empirical grounds: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fix metadata lost during ingestion (node:14: HG 10% vs Trivy 77%)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per-scanner attribution collapsed; consensus broken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059669"/>
                </a:solidFill>
              </a:defRPr>
            </a:pPr>
            <a:r>
              <a:t>Chosen: standalone OPA layer consuming raw scanner JSON.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Decoupled, deterministic, unit-testable, generalisable.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7724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ourier New"/>
              </a:defRPr>
            </a:pPr>
            <a:r>
              <a:t>trivy / grype / osv-scanner</a:t>
            </a:r>
            <a:br/>
            <a:r>
              <a:t>         │</a:t>
            </a:r>
            <a:br/>
            <a:r>
              <a:t>         ▼</a:t>
            </a:r>
            <a:br/>
            <a:r>
              <a:t>   normalise.py     (Python adapter per scanner)</a:t>
            </a:r>
            <a:br/>
            <a:r>
              <a:t>         │</a:t>
            </a:r>
            <a:br/>
            <a:r>
              <a:t>         ▼</a:t>
            </a:r>
            <a:br/>
            <a:r>
              <a:t>   policy_input.json   (unified schema)</a:t>
            </a:r>
            <a:br/>
            <a:r>
              <a:t>         │</a:t>
            </a:r>
            <a:br/>
            <a:r>
              <a:t>         ▼</a:t>
            </a:r>
            <a:br/>
            <a:r>
              <a:t>   enrich.py         (NVD, OSV, EPSS; cached by CVE)</a:t>
            </a:r>
            <a:br/>
            <a:r>
              <a:t>         │</a:t>
            </a:r>
            <a:br/>
            <a:r>
              <a:t>         ▼</a:t>
            </a:r>
            <a:br/>
            <a:r>
              <a:t>   classifier        (rule or agent; layer label)</a:t>
            </a:r>
            <a:br/>
            <a:r>
              <a:t>         │</a:t>
            </a:r>
            <a:br/>
            <a:r>
              <a:t>         ▼</a:t>
            </a:r>
            <a:br/>
            <a:r>
              <a:t>   eol enricher      (endoflife.date / Trivy / agent)</a:t>
            </a:r>
            <a:br/>
            <a:r>
              <a:t>         │</a:t>
            </a:r>
            <a:br/>
            <a:r>
              <a:t>         ▼</a:t>
            </a:r>
            <a:br/>
            <a:r>
              <a:t>   opa eval          (deterministic policy bundle)</a:t>
            </a:r>
            <a:br/>
            <a:r>
              <a:t>         │</a:t>
            </a:r>
            <a:br/>
            <a:r>
              <a:t>   PASS / REJECT + structured deny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2860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6FEB"/>
                </a:solidFill>
              </a:defRPr>
            </a:pPr>
            <a:r>
              <a:t>LLMs isolated outside the OPA evaluation.</a:t>
            </a:r>
          </a:p>
          <a:p>
            <a:br/>
            <a:pPr>
              <a:defRPr sz="1600">
                <a:solidFill>
                  <a:srgbClr val="1F2937"/>
                </a:solidFill>
              </a:defRPr>
            </a:pPr>
            <a:r>
              <a:t>Gate decision is deterministic.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Policy Bundle: Six Variants, One Library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Adds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Targets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nothing (CRITICAL 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recall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P2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+ fix availability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block-forever loops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 cross-scanner 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single-tool FPs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P4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+ NVD / OSV / EPSS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validity + exploitation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 layer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asymmetric thresholds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P6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+ EOL state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deployment context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Each policy strictly more selective than the previous.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Shared predicates in lib.rego.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59669"/>
                </a:solidFill>
              </a:defRPr>
            </a:pPr>
            <a:r>
              <a:t>37/37 OPA unit tests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P1: Any CRITICAL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Baseline. The dumbest gate that still uses the most portable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Behaviour.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Blocks on any CRITICAL finding from any scanner.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Results.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web-dvwa: 328 blocks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juice-shop: 9 blocks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python:3.8: 191 blocks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B91C1C"/>
                </a:solidFill>
              </a:defRPr>
            </a:pPr>
            <a:r>
              <a:t>Failure mode.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Alert fatigue. Blocks indefinitely on unfixable CVEs.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Trust erodes; gate gets bypassed.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P2: CRITICAL with Available Fix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An unfixable CRITICAL is operationally useless.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Behaviour: P1 conditions + fix_version != null.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node:20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no fixes available — P2 correctly passes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nginx:1.19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−2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EOL Debian, most CVEs have backports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node:14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EOL Node, mix of fixable and not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python:3.8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191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158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−33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EOL Python, OS-layer CVEs without fixes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web-dvwa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many old PHP CVEs unfixed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juice-shop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−2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npm packages, mostly patched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6FEB"/>
                </a:solidFill>
              </a:defRPr>
            </a:pPr>
            <a:r>
              <a:t>node:20 case: 33 CRITICALs, zero have a fix.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P2 correctly passes; P1 would block forever.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P3: Consensus CRITICAL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If only one scanner detects it, the match is probably scanner-specific.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Behaviour: P1 conditions + both scanners detected the same (cve_id, package).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P3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Single-scanner filtered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node:20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nginx:1.19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node:14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python:3.8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191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187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web-dvwa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juice-shop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</a:defRPr>
            </a:pPr>
            <a:r>
              <a:t>Filters real noise without external data. Good baseline for P4–P6.</a:t>
            </a:r>
          </a:p>
          <a:p>
            <a:pPr>
              <a:spcAft>
                <a:spcPts val="600"/>
              </a:spcAft>
              <a:defRPr sz="1400" b="1">
                <a:solidFill>
                  <a:srgbClr val="1F6FEB"/>
                </a:solidFill>
              </a:defRPr>
            </a:pPr>
            <a:r>
              <a:t>juice-shop: 0 filtered. All 9 npm CRITICALs detected by both scanners (high consensus on app-layer findings).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EPSS: Exploit Prediction Scoring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Maintained by FIRST.org. The same body behind CVSS.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2937"/>
                </a:solidFill>
              </a:defRPr>
            </a:pPr>
            <a:r>
              <a:t>What it measures.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Daily-updated probability (0 to 1) that the CVE will be exploited in the wild within the next 30 days.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1F2937"/>
                </a:solidFill>
              </a:defRPr>
            </a:pPr>
            <a:r>
              <a:t>Why it is not the same as CVSS.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CVSS  → severity (theoretical impact if exploited)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EPSS  → likelihood (will anyone actually try)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A CVSS 9.8 Critical can have EPSS 0.001 (terrifying-looking, never attacked).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A CVSS 5.4 Medium can have EPSS 0.9 (mid-severity, actively exploited now).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84632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86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Percentile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 b="1"/>
                        <a:t>EPSS &gt;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top decile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actively exploited or imminent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 b="1"/>
                        <a:t>EPSS &gt; 0.01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top ~5%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some exploitation activity observed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 b="1"/>
                        <a:t>EPSS 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bottom ~85%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essentially no exploitation activity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P4: Enriched CRITICAL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Scanner signals are necessary but insufficient.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Three external signals: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NVD status (Analyzed / Modified; rejected and disputed flags)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OSV advisory (ecosystem confirmation + fix version)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EPSS (exploitation probability, next 30 days)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Two configurations: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11480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solidFill>
                            <a:srgbClr val="FFFFFF"/>
                          </a:solidFill>
                        </a:rPr>
                        <a:t>EPSS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solidFill>
                            <a:srgbClr val="FFFFFF"/>
                          </a:solidFill>
                        </a:rPr>
                        <a:t>NVD status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/>
                        <a:t>P4 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&gt;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Analyzed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/>
                        <a:t>P4 relaxed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&gt; 0.01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Analyzed + Modified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P4 Results: The Strict / Relaxed Tension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b="1" sz="1900">
                          <a:solidFill>
                            <a:srgbClr val="FFFFFF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solidFill>
                            <a:srgbClr val="FFFFFF"/>
                          </a:solidFill>
                        </a:rPr>
                        <a:t>P3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solidFill>
                            <a:srgbClr val="FFFFFF"/>
                          </a:solidFill>
                        </a:rPr>
                        <a:t>P4 strict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solidFill>
                            <a:srgbClr val="FFFFFF"/>
                          </a:solidFill>
                        </a:rPr>
                        <a:t>P4 relaxed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/>
                        <a:t>node:20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/>
                        <a:t>nginx:1.19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41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/>
                        <a:t>python:3.8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/>
                        <a:t>web-dvwa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295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198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/>
                        <a:t>juice-shop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634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B91C1C"/>
                </a:solidFill>
              </a:defRPr>
            </a:pPr>
            <a:r>
              <a:t>strict too aggressive on OS-layer CVEs (low EPSS by nature).</a:t>
            </a:r>
          </a:p>
          <a:p>
            <a:pPr>
              <a:spcAft>
                <a:spcPts val="600"/>
              </a:spcAft>
              <a:defRPr sz="1800" b="0">
                <a:solidFill>
                  <a:srgbClr val="B91C1C"/>
                </a:solidFill>
              </a:defRPr>
            </a:pPr>
            <a:r>
              <a:t>relaxed too permissive on app-layer CVEs.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6FEB"/>
                </a:solidFill>
              </a:defRPr>
            </a:pPr>
            <a:r>
              <a:t>This motivates P5.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P5: Layer-Aware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App and OS findings have different prior risk distributions. One threshold can't serve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Design.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App layer  → strict thresholds (EPSS &gt; 0.1)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OS layer   → relaxed thresholds (EPSS &gt; 0.01)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Requires.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Each finding labelled app | os | unknown by a classifier.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Two classifiers evaluated.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1. Rule baseline   — ecosystem string → layer, deterministic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2. LLM agent       — semantic judgment, Claude Haiku 4.5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Layer Classifier Comparison (3 classifiers)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626 CRITICAL findings across 9 images. Layers shown as app / os / unknown.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91885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qwen2.5:3b (Ollama)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Claude Haiku 4.5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 b="1"/>
                        <a:t>node:20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 / 33 /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 / 33 /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0 / 33 / 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 b="1"/>
                        <a:t>nginx:1.19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 / 42 / 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 / 42 / 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0 / 42 / 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 b="1"/>
                        <a:t>node:14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 / 21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 / 21 /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2 / 21 / 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 b="1"/>
                        <a:t>python:3.8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 / 190 / 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 / 190 / 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0 / 191 / 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 b="1"/>
                        <a:t>web-dvwa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 / 328 /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 / 328 /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123 / 205 / 0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400" b="1"/>
                        <a:t>juice-shop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9 / 0 / 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4 / 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9 / 0 / 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377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B91C1C"/>
                </a:solidFill>
              </a:defRPr>
            </a:pPr>
            <a:r>
              <a:t>qwen2.5:3b missed all 123 PHP reclassifications on web-dvwa.</a:t>
            </a:r>
          </a:p>
          <a:p>
            <a:pPr>
              <a:spcAft>
                <a:spcPts val="600"/>
              </a:spcAft>
              <a:defRPr sz="1400" b="1">
                <a:solidFill>
                  <a:srgbClr val="B91C1C"/>
                </a:solidFill>
              </a:defRPr>
            </a:pPr>
            <a:r>
              <a:t>qwen2.5:3b made a different mistake: relabelled 4 vm2 CVEs as os on juice-shop (vm2 is a sandbox library).</a:t>
            </a:r>
          </a:p>
          <a:p>
            <a:pPr>
              <a:spcAft>
                <a:spcPts val="600"/>
              </a:spcAft>
              <a:defRPr sz="1400" b="1">
                <a:solidFill>
                  <a:srgbClr val="059669"/>
                </a:solidFill>
              </a:defRPr>
            </a:pPr>
            <a:r>
              <a:t>Claude Haiku 4.5 correctly identified the OS-packaged-app-code case.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1F6FEB"/>
                </a:solidFill>
              </a:defRPr>
            </a:pPr>
            <a:r>
              <a:t>Takeaway: model capability matters. A 3B model produced essentially the same outcome as the rule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What the Agent Caught on web-dvwa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Package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Why rule got it wrong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libapache2-mod-php7.0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Debian-packaged, runs PHP app code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php7.0-mysql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Same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php7.0-gd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Same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...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(10 packages, 123 findings total)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OS by ecosystem, app by behaviour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F2937"/>
                </a:solidFill>
              </a:defRPr>
            </a:pPr>
            <a:r>
              <a:t>Agent reasoning (temperature 0, confidence 1.00):</a:t>
            </a:r>
          </a:p>
          <a:p>
            <a:pPr>
              <a:defRPr i="1" sz="1600">
                <a:solidFill>
                  <a:srgbClr val="1F6FEB"/>
                </a:solidFill>
              </a:defRPr>
            </a:pPr>
            <a:r>
              <a:t>"libapache2-mod-php is an Apache module that executes PHP application code, making it application layer despite being OS-packaged."</a:t>
            </a:r>
          </a:p>
          <a:p>
            <a:br/>
            <a:pPr>
              <a:defRPr sz="1600">
                <a:solidFill>
                  <a:srgbClr val="1F2937"/>
                </a:solidFill>
              </a:defRPr>
            </a:pPr>
            <a:r>
              <a:t>Rule classifier cannot make this distinction. Agent can.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P5 Results: The Goldilocks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</a:rPr>
                        <a:t>P4 strict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</a:rPr>
                        <a:t>P4 relaxed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</a:rPr>
                        <a:t>P5 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</a:rPr>
                        <a:t>P5 agent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/>
                        <a:t>node:20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/>
                        <a:t>nginx:1.19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/>
                        <a:t>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/>
                        <a:t>python:3.8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/>
                        <a:t>web-dvwa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198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198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/>
                        <a:t>116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/>
                        <a:t>juice-shop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59669"/>
                </a:solidFill>
              </a:defRPr>
            </a:pPr>
            <a:r>
              <a:t>web-dvwa: 41% reduction (198 → 116) vs P4 relaxed.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PHP CVEs routed through strict app-layer thresholds.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6FEB"/>
                </a:solidFill>
              </a:defRPr>
            </a:pPr>
            <a:r>
              <a:t>juice-shop: 1 block, and it's CVE-2023-32314 (vm2 sandbox escape, EPSS 0.7).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Real, known-exploited vulnerability.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P5 Iteration: NVD "Modified" Bug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Initial design.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App-layer required NVD status == Analyzed.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B91C1C"/>
                </a:solidFill>
              </a:defRPr>
            </a:pPr>
            <a:r>
              <a:t>What happened.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juice-shop passed with 0 blocks. Including CVE-2023-32314 (vm2 sandbox RCE, EPSS 0.7).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Why.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NVD had reset status to "Modified" (lifecycle update). Strict variant treated this as invalidity.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Reality: only Rejected and Disputed invalidate.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59669"/>
                </a:solidFill>
              </a:defRPr>
            </a:pPr>
            <a:r>
              <a:t>Fix.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One-line config change. Accept [Analyzed, Modified] for app-layer.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6FEB"/>
                </a:solidFill>
              </a:defRPr>
            </a:pPr>
            <a:r>
              <a:t>Lesson: parameterised Rego absorbed a policy bug as a config edit. No code change.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P6: EOL-Aware Gating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An end-of-life image will never receive security patches. Per-CVE triage is operationally pointless.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Behaviour.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EOL image → block immediately, single deny message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Non-EOL image → delegate to P5_layer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• Configurable: eol_insta_block: true | false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2937"/>
                </a:solidFill>
              </a:defRPr>
            </a:pPr>
            <a:r>
              <a:t>Source priority.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1. endoflife.date (canonical per-product lifecycle data)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2. Trivy Metadata.OS.EOSL (OS distro layer)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  3. LLM fallback (semantic; never invoked on this dataset)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EOL Source Audit (All 9 Images)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3891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EOL?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alpine:3.19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endoflife.date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2025-11-01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nginx:1.29.7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59669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trivy:os-eosl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node:20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endoflife.date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2026-04-30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python:3.12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59669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endoflife.date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2028-10-31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nginx:1.19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endoflife.date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2021-05-25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node:14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endoflife.date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2023-04-30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python:3.8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endoflife.date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2024-10-07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vulnerables/web-dvwa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trivy:os-eosl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/>
                        <a:t>bkimminich/juice-shop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59669"/>
                          </a:solidFill>
                        </a:rP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trivy:os-eosl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node:20 Lifecycle Transition (Run-time Detection)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At start of study.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node:20 was actively maintained (Group C, modern).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B91C1C"/>
                </a:solidFill>
              </a:defRPr>
            </a:pPr>
            <a:r>
              <a:t>During the work.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Node.js 20 reached end of maintenance on 2026-04-30.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59669"/>
                </a:solidFill>
              </a:defRPr>
            </a:pPr>
            <a:r>
              <a:t>What the framework did.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Detected the transition automatically on the next run.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No code change. No dataset update. No hardcoded table to update.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Why this works.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EOL is queried from endoflife.date at run time, not embedded in code.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6FEB"/>
                </a:solidFill>
              </a:defRPr>
            </a:pPr>
            <a:r>
              <a:t>Takeaway: policy outcomes evolve with reality when structured external data is used.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P6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06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EOL?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P5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P6 strict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P6 permissive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1"/>
                        <a:t>alpine:3.19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1 (EOL)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1"/>
                        <a:t>node:20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/>
                        <a:t>1 (EOL)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1"/>
                        <a:t>python:3.12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59669"/>
                          </a:solidFill>
                        </a:rP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1"/>
                        <a:t>nginx:1.19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/>
                        <a:t>1 (EOL)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1"/>
                        <a:t>node:14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1 (EOL)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12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1"/>
                        <a:t>python:3.8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/>
                        <a:t>1 (EOL)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1"/>
                        <a:t>web-dvwa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B91C1C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1 (EOL)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116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1"/>
                        <a:t>juice-shop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59669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/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</a:defRPr>
            </a:pPr>
            <a:r>
              <a:t>P6 strict collapses every EOL image to a single "EOL, do not deploy" message.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</a:defRPr>
            </a:pPr>
            <a:r>
              <a:t>P6 permissive (toggle off) reproduces P5 exactly.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Decision-Quality Audit: Defensible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node:20: 1 of 33.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Only one has a fix; blocking on the others = infinite build-fail loop.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nginx:1.19: 16 of 42.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EOL Debian Buster; 16 with EPSS &gt; 0.01 are the actively-exploited subset.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web-dvwa: 116 of 328 (agent).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Strict thresholds on PHP app code; high-EPSS preserved, low-EPSS filtered.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juice-shop: 1 of 9.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CVE-2023-32314 vm2 sandbox escape, EPSS 0.7. Real, known-exploited.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59669"/>
                </a:solidFill>
              </a:defRPr>
            </a:pPr>
            <a:r>
              <a:t>These are not coincidences. The policy is doing what it was designed to 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Decision-Quality Audit: Contestable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python:3.8: 6 of 191 CRITICALs blocked.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162 of 191 have EPSS &lt; 0.001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Defence: EPSS-prioritised gating is supposed to filter these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Counter: 191 CRITICALs is a posture concern regardless of exploitation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P6 strict resolves this by short-circuiting on image lifecycle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2937"/>
                </a:solidFill>
              </a:defRPr>
            </a:pPr>
            <a:r>
              <a:t>juice-shop: 8 of 9 CRITICALs passed P5.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All real vulnerabilities; low EPSS = no observed exploitation, not no exploitability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juice-shop is intentionally vulnerable but not EOL upstream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P6 does not catch this case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Genuine limitation worth naming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Limitations (Honestly Named)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1. No ground truth for layer classification.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 Agent reclassifications look right on inspection; no labelled set exists.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2. Single LLM run per finding.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 Stability under multi-run majority voting not measured.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3. Concentrated disagreement on one image.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 Layer-aware contribution validated by web-dvwa; generalisation needs more diverse images.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4. No reachability analysis.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 The real false-positive problem (vulnerable function exists but is never called).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5. Static EPSS snapshot.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 Production deployments would re-evaluate periodically.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What We Considered and Rejected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B5563"/>
                </a:solidFill>
              </a:defRPr>
            </a:pPr>
            <a:r>
              <a:t>P7: AI-based True-Positive / False-Positive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Why not: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LLM has less information than the scanner that did the structured CPE match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Reachability (the real FP problem) needs static analysis, not prose reasoning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Cost of hallucinated suppression is asymmetric (FN ships vulnerability)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No ground truth available for evaluation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  <a:r>
              <a:t>  • Dilutes the architectural claim from "LLM where structured data fails" to "LLM everywhere"</a:t>
            </a:r>
          </a:p>
          <a:p>
            <a:pPr>
              <a:spcAft>
                <a:spcPts val="600"/>
              </a:spcAft>
              <a:defRPr sz="16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F6FEB"/>
                </a:solidFill>
              </a:defRPr>
            </a:pPr>
            <a:r>
              <a:t>Full reasoning: docs/notes_considered_ai_tp_classifier.md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• Six-policy progression, parameterised in Rego, deterministic OPA evaluation.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• Layer classification (P5) uses agent only where structured data fails.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41% block reduction on web-dvwa.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• EOL awareness (P6) uses endoflife.date primary, Trivy secondary, agent fallback.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Caught node:20 transition automatically.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• Iteration as feature. NVD-Modified bug surfaced empirically; corrected by config.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• Decision-quality audit is honest about both defensible and contestable outcomes.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1F6FEB"/>
                </a:solidFill>
              </a:defRPr>
            </a:pPr>
            <a:r>
              <a:t>• Framework, not security oracle. Trade-offs measured, limitations named.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37/37 OPA tests. ~$0.30 per full classification run. Reproducible.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F2937"/>
                </a:solidFill>
              </a:defRPr>
            </a:pPr>
            <a:r>
              <a:t>Artefacts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2937"/>
                </a:solidFill>
              </a:defRPr>
            </a:pPr>
            <a:r>
              <a:t>Code (policy/)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rego/         — 6 policy files + lib.rego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tests/        — 37 OPA unit tests, all pass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normalisers/  — scanner adapters (Trivy, Grype)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enrichers/    — NVD, OSV, EPSS, EOL adapters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classifiers/  — rule + LLM-based layer classifiers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configs/      — JSON config per policy variant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evaluate_all.py — single-entry orchestrator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output/       — verdict matrix, summary, per-image evidence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1F2937"/>
                </a:solidFill>
              </a:defRPr>
            </a:pPr>
            <a:r>
              <a:t>Documentation (docs/)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notes_architectural_decision.md      — design rationale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policy_experiment_results.md         — empirical results</a:t>
            </a:r>
          </a:p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</a:defRPr>
            </a:pPr>
            <a:r>
              <a:t>  • notes_considered_ai_tp_classifier.md — rejected P7 reasoning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2937"/>
                </a:solidFill>
              </a:defRPr>
            </a:pPr>
            <a:r>
              <a:t>Policy Decision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B5563"/>
                </a:solidFill>
              </a:defRPr>
            </a:pPr>
            <a:r>
              <a:t>Each finding traverses the gates. P6 is evaluated first; remaining policies are filter compositions.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194560" cy="457200"/>
          </a:xfrm>
          <a:prstGeom prst="roundRect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Finding from scanner</a:t>
            </a:r>
          </a:p>
        </p:txBody>
      </p:sp>
      <p:sp>
        <p:nvSpPr>
          <p:cNvPr id="6" name="Diamond 5"/>
          <p:cNvSpPr/>
          <p:nvPr/>
        </p:nvSpPr>
        <p:spPr>
          <a:xfrm>
            <a:off x="365760" y="2194560"/>
            <a:ext cx="2194560" cy="822960"/>
          </a:xfrm>
          <a:prstGeom prst="diamond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P6: image EOL?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2011680"/>
            <a:ext cx="0" cy="18288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3200" y="2331720"/>
            <a:ext cx="1188720" cy="502920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 (P6 EOL)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606040"/>
            <a:ext cx="18288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0" y="23317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yes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0" y="3017520"/>
            <a:ext cx="0" cy="18288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08760" y="3063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no</a:t>
            </a:r>
          </a:p>
        </p:txBody>
      </p:sp>
      <p:sp>
        <p:nvSpPr>
          <p:cNvPr id="13" name="Diamond 12"/>
          <p:cNvSpPr/>
          <p:nvPr/>
        </p:nvSpPr>
        <p:spPr>
          <a:xfrm>
            <a:off x="365760" y="3200400"/>
            <a:ext cx="2194560" cy="822960"/>
          </a:xfrm>
          <a:prstGeom prst="diamond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severity == CRITICAL?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337560"/>
            <a:ext cx="118872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3611880"/>
            <a:ext cx="18288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0" y="33375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no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63040" y="4023360"/>
            <a:ext cx="0" cy="18288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63040" y="4114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yes</a:t>
            </a:r>
          </a:p>
        </p:txBody>
      </p:sp>
      <p:sp>
        <p:nvSpPr>
          <p:cNvPr id="19" name="Diamond 18"/>
          <p:cNvSpPr/>
          <p:nvPr/>
        </p:nvSpPr>
        <p:spPr>
          <a:xfrm>
            <a:off x="365760" y="4206240"/>
            <a:ext cx="2194560" cy="822960"/>
          </a:xfrm>
          <a:prstGeom prst="diamond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detected by both?</a:t>
            </a:r>
            <a:br/>
            <a:r>
              <a:t>(P3 consensus)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343400"/>
            <a:ext cx="118872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PASS (P3+)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4617720"/>
            <a:ext cx="18288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86000" y="43434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63040" y="5029200"/>
            <a:ext cx="0" cy="18288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63040" y="51206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yes</a:t>
            </a:r>
          </a:p>
        </p:txBody>
      </p:sp>
      <p:sp>
        <p:nvSpPr>
          <p:cNvPr id="25" name="Diamond 24"/>
          <p:cNvSpPr/>
          <p:nvPr/>
        </p:nvSpPr>
        <p:spPr>
          <a:xfrm>
            <a:off x="365760" y="5212080"/>
            <a:ext cx="2194560" cy="914400"/>
          </a:xfrm>
          <a:prstGeom prst="diamond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NVD valid +</a:t>
            </a:r>
            <a:br/>
            <a:r>
              <a:t>OSV advisory +</a:t>
            </a:r>
            <a:br/>
            <a:r>
              <a:t>OSV fix?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394960"/>
            <a:ext cx="118872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PASS (P4+)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60320" y="5669280"/>
            <a:ext cx="18288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86000" y="5394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no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560320" y="2377440"/>
            <a:ext cx="2377440" cy="329184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4572000" y="2194560"/>
            <a:ext cx="2286000" cy="822960"/>
          </a:xfrm>
          <a:prstGeom prst="diamond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P5: layer?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463040" y="5760720"/>
            <a:ext cx="3108960" cy="36576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017520" y="59436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yes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3291840"/>
            <a:ext cx="146304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389120" y="3017520"/>
            <a:ext cx="822960" cy="27432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800600" y="3154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app</a:t>
            </a:r>
          </a:p>
        </p:txBody>
      </p:sp>
      <p:sp>
        <p:nvSpPr>
          <p:cNvPr id="36" name="Diamond 35"/>
          <p:cNvSpPr/>
          <p:nvPr/>
        </p:nvSpPr>
        <p:spPr>
          <a:xfrm>
            <a:off x="3474720" y="3931920"/>
            <a:ext cx="1828800" cy="822960"/>
          </a:xfrm>
          <a:prstGeom prst="diamond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EPSS &gt; 0.1?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89120" y="3794760"/>
            <a:ext cx="0" cy="13716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743200" y="5029200"/>
            <a:ext cx="1280160" cy="502920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3383280" y="4754880"/>
            <a:ext cx="731520" cy="32004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49040" y="49149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yes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40" y="5029200"/>
            <a:ext cx="12801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0" y="4754880"/>
            <a:ext cx="274320" cy="32004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09160" y="49149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3291840"/>
            <a:ext cx="146304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0" y="3017520"/>
            <a:ext cx="731520" cy="27432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92240" y="3154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os</a:t>
            </a:r>
          </a:p>
        </p:txBody>
      </p:sp>
      <p:sp>
        <p:nvSpPr>
          <p:cNvPr id="47" name="Diamond 46"/>
          <p:cNvSpPr/>
          <p:nvPr/>
        </p:nvSpPr>
        <p:spPr>
          <a:xfrm>
            <a:off x="5943600" y="3931920"/>
            <a:ext cx="1828800" cy="822960"/>
          </a:xfrm>
          <a:prstGeom prst="diamond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EPSS &gt; 0.01?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58000" y="3794760"/>
            <a:ext cx="0" cy="13716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212080" y="5029200"/>
            <a:ext cx="1280160" cy="502920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5852160" y="4754880"/>
            <a:ext cx="731520" cy="32004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0" y="49149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yes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5029200"/>
            <a:ext cx="12801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 tIns="20000" bIns="200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40880" y="4754880"/>
            <a:ext cx="274320" cy="32004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78040" y="49149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</a:defRPr>
            </a:pPr>
            <a:r>
              <a:t>no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15544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F6FEB"/>
                </a:solidFill>
              </a:defRPr>
            </a:pPr>
            <a:r>
              <a:t>Policy progression</a:t>
            </a:r>
          </a:p>
          <a:p>
            <a:pPr>
              <a:spcAft>
                <a:spcPts val="200"/>
              </a:spcAft>
              <a:defRPr sz="8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</a:defRPr>
            </a:pPr>
            <a:r>
              <a:t>P1: any CRITICAL → BLOCK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</a:defRPr>
            </a:pPr>
            <a:r>
              <a:t>(no other checks)</a:t>
            </a:r>
          </a:p>
          <a:p>
            <a:pPr>
              <a:spcAft>
                <a:spcPts val="200"/>
              </a:spcAft>
              <a:defRPr sz="6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</a:defRPr>
            </a:pPr>
            <a:r>
              <a:t>P2: + has fix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</a:defRPr>
            </a:pPr>
            <a:r>
              <a:t>blocks only fixable CRITICALs</a:t>
            </a:r>
          </a:p>
          <a:p>
            <a:pPr>
              <a:spcAft>
                <a:spcPts val="200"/>
              </a:spcAft>
              <a:defRPr sz="6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</a:defRPr>
            </a:pPr>
            <a:r>
              <a:t>P3: + cross-scanner consensus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</a:defRPr>
            </a:pPr>
            <a:r>
              <a:t>filters single-scanner FPs</a:t>
            </a:r>
          </a:p>
          <a:p>
            <a:pPr>
              <a:spcAft>
                <a:spcPts val="200"/>
              </a:spcAft>
              <a:defRPr sz="6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</a:defRPr>
            </a:pPr>
            <a:r>
              <a:t>P4: + NVD/OSV/EPSS enrichment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</a:defRPr>
            </a:pPr>
            <a:r>
              <a:t>strict (EPSS &gt; 0.1) or relaxed (&gt; 0.01)</a:t>
            </a:r>
          </a:p>
          <a:p>
            <a:pPr>
              <a:spcAft>
                <a:spcPts val="200"/>
              </a:spcAft>
              <a:defRPr sz="6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</a:defRPr>
            </a:pPr>
            <a:r>
              <a:t>P5: + layer-aware routing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</a:defRPr>
            </a:pPr>
            <a:r>
              <a:t>app → strict, os → relaxed</a:t>
            </a:r>
          </a:p>
          <a:p>
            <a:pPr>
              <a:spcAft>
                <a:spcPts val="200"/>
              </a:spcAft>
              <a:defRPr sz="6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F2937"/>
                </a:solidFill>
              </a:defRPr>
            </a:pPr>
            <a:r>
              <a:t>P6: + EOL short-circuit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</a:defRPr>
            </a:pPr>
            <a:r>
              <a:t>EOL image → block immediately</a:t>
            </a:r>
          </a:p>
          <a:p>
            <a:pPr>
              <a:spcAft>
                <a:spcPts val="200"/>
              </a:spcAft>
              <a:defRPr sz="8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F6FEB"/>
                </a:solidFill>
              </a:defRPr>
            </a:pPr>
            <a:r>
              <a:t>Each later policy strictly more selective.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</a:defRPr>
            </a:pPr>
            <a:r>
              <a:t>Diagram shows P6 (EOL) + P5 (CRITICAL+layer)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</a:defRPr>
            </a:pPr>
            <a:r>
              <a:t>composition. P1-P4 are subsets.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